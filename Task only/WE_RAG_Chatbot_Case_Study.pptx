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12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28hLJIfhzlxcnfTX3yadMtPyVID_cQNe?dmr=1&amp;ec=wgc-drive-%5Bmodule%5D-got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5943600" cy="5943600"/>
          </a:xfrm>
          <a:prstGeom prst="ellipse">
            <a:avLst/>
          </a:prstGeom>
          <a:solidFill>
            <a:srgbClr val="3E1F63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3840480" cy="3840480"/>
          </a:xfrm>
          <a:prstGeom prst="ellipse">
            <a:avLst/>
          </a:prstGeom>
          <a:solidFill>
            <a:srgbClr val="3E1F6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2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8B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CASE STUDY  ·  TELECOM EGYPT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Customer-Support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for WE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348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grounded, multilingual Retrieval-Augmented Generation assistant that answers customer questions from te.eg and uploaded documents.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440680"/>
            <a:ext cx="2743200" cy="0"/>
          </a:xfrm>
          <a:prstGeom prst="line">
            <a:avLst/>
          </a:prstGeom>
          <a:noFill/>
          <a:ln w="25400">
            <a:solidFill>
              <a:srgbClr val="E8B5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8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Entertainment Services Module  </a:t>
            </a:r>
            <a:r>
              <a:rPr lang="en-US" sz="1200" dirty="0" smtClean="0">
                <a:solidFill>
                  <a:srgbClr val="B8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 of customer questions, one overloaded support line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Egypt receives a constant stream of inquiries about services, plans, bills, and technical support — in Arabic, English, and Egyptian dialect. Customers expect fast, accurate, trustworthy answers.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1821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49300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English, and Egyptian dialect must all be understood correctly.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422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must be bounded by official WE content — no invented prices or codes.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1023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website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41324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should also be able to ask about their own uploaded documents.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0" y="169164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231942"/>
          </a:solidFill>
          <a:ln/>
          <a:effectLst>
            <a:outerShdw blurRad="152400" dist="50800" dir="5400000" algn="bl" rotWithShape="0">
              <a:srgbClr val="3E1F63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89520" y="2148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B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5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246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 inquiries handled daily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01000" y="3977640"/>
            <a:ext cx="3200400" cy="0"/>
          </a:xfrm>
          <a:prstGeom prst="line">
            <a:avLst/>
          </a:prstGeom>
          <a:noFill/>
          <a:ln w="12700">
            <a:solidFill>
              <a:srgbClr val="3E1F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846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customer-service hotline the bot escalates to when it lacks an answer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· SCRAPER.PY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te.eg pages into clean, chunked text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3194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every /w/ sub-service link from a category page (e.g. Entertainment).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3456432"/>
            <a:ext cx="201168" cy="219456"/>
          </a:xfrm>
          <a:prstGeom prst="rightArrow">
            <a:avLst/>
          </a:prstGeom>
          <a:solidFill>
            <a:srgbClr val="5C2D91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7830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8346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text from headings, paragraphs and list items; dedupe lines within each page.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07608" y="3456432"/>
            <a:ext cx="201168" cy="219456"/>
          </a:xfrm>
          <a:prstGeom prst="rightArrow">
            <a:avLst/>
          </a:prstGeom>
          <a:solidFill>
            <a:srgbClr val="5C2D91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7830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3194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8346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line repeated across more than one page is nav/footer boilerplate — drop 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42248" y="3456432"/>
            <a:ext cx="201168" cy="219456"/>
          </a:xfrm>
          <a:prstGeom prst="rightArrow">
            <a:avLst/>
          </a:prstGeom>
          <a:solidFill>
            <a:srgbClr val="5C2D91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17830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8346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~500-character, sentence-aware pieces; merge orphan trailing chunks.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DE7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669280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E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so far: entertainment category fully scraped (call-tone, WATCH iT, WE Sports, play-and-win, number portability). Remaining categories are split across teammates.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· VECTOR_STORE.PY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persistent, multilingual vector store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556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8483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paraphrase-multilingual-MiniLM-L12-v2 encodes Arabic and English chunks into the same vector space.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20624" cy="420624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34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807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3639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is created with hnsw:space = cosine, matching how relevance is later scored.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8587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not in-memory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18795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chromadb.PersistentClient writes to disk, so the knowledge base survives an app restart — required for on-prem deployment.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420624" cy="420624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937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9103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metadata per chunk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23951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vector stores its url, category, and source_type (website vs. user_upload), enabling citation and filtered search.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1783080"/>
            <a:ext cx="3977640" cy="4206240"/>
          </a:xfrm>
          <a:prstGeom prst="roundRect">
            <a:avLst>
              <a:gd name="adj" fmla="val 2299"/>
            </a:avLst>
          </a:prstGeom>
          <a:solidFill>
            <a:srgbClr val="2319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VECTOR RECORD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chunk_id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entertainment_call-tone_2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3172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34655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te.eg/w/.../call-tone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38313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4123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entertainment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4897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source_type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47823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5148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[384-dim vector]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· DOCUMENT_LOADER.PY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can also query their own documents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EDE7F6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2148840"/>
            <a:ext cx="640080" cy="6400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71016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0175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extracts text page by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07208" y="187452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EDE7F6"/>
          </a:solidFill>
          <a:ln/>
        </p:spPr>
      </p:sp>
      <p:sp>
        <p:nvSpPr>
          <p:cNvPr id="11" name="Shape 9"/>
          <p:cNvSpPr/>
          <p:nvPr/>
        </p:nvSpPr>
        <p:spPr>
          <a:xfrm>
            <a:off x="3529584" y="2148840"/>
            <a:ext cx="640080" cy="6400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9584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0175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reads paragraphs and table cells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5776" y="187452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EDE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788152" y="2148840"/>
            <a:ext cx="640080" cy="6400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88152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30175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 as plain 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24344" y="187452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EDE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148840"/>
            <a:ext cx="640080" cy="6400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88936" y="30175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pulls headings, paragraphs, list and table cells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82912" y="187452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EDE7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05288" y="2148840"/>
            <a:ext cx="640080" cy="6400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305288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47504" y="30175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Gemini's multimodal API to transcribe or describe — no local OCR install needed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23194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663440"/>
            <a:ext cx="10469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file reuses the exact same chunk_page() logic as the scraper — so uploaded content is chunked consistently with scraped website content, then tagged source_type = "user_upload" so the RAG layer always knows where an answer came from.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 · RAG.PY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raw customer message to a grounded reply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28346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strips the message to its core WE topic, fixing typos and dropping irrelevant specifics (e.g. a singer's name).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691640"/>
            <a:ext cx="182880" cy="201168"/>
          </a:xfrm>
          <a:prstGeom prst="rightArrow">
            <a:avLst/>
          </a:prstGeom>
          <a:solidFill>
            <a:srgbClr val="E8B54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828800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8346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normalized query is embedded and matched against ChromaDB for the closest chunks.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07608" y="1691640"/>
            <a:ext cx="182880" cy="201168"/>
          </a:xfrm>
          <a:prstGeom prst="rightArrow">
            <a:avLst/>
          </a:prstGeom>
          <a:solidFill>
            <a:srgbClr val="E8B54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8346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with cosine distance above 0.55 are dropped — only genuinely relevant context reaches the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42248" y="1691640"/>
            <a:ext cx="182880" cy="201168"/>
          </a:xfrm>
          <a:prstGeom prst="rightArrow">
            <a:avLst/>
          </a:prstGeom>
          <a:solidFill>
            <a:srgbClr val="E8B5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1828800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28346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answers strictly from the surviving context, in the customer's own language, citing sources.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109960" cy="1600200"/>
          </a:xfrm>
          <a:prstGeom prst="roundRect">
            <a:avLst>
              <a:gd name="adj" fmla="val 5714"/>
            </a:avLst>
          </a:prstGeom>
          <a:solidFill>
            <a:srgbClr val="2319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690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GUARDRAILS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Never invent prices, USSD codes, or details absent from context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4223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Escalate to 155 when the answer isn't in the knowledge base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76986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Reply in the same language the customer used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2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B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· APP.PY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branded, avatar-driven Gradio experience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Gradio app — no Colab dependency. Purple WE branding, centered avatar, RTL layout, and Arabic example prompts.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96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072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before any message and after a normal reply finishes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64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758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while waiting on Gemini's response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233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445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is typed out on screen, character by character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102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4132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when the answer was a "don't have this info" fallback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1417320"/>
            <a:ext cx="4206240" cy="48920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35239" y="1645920"/>
            <a:ext cx="627311" cy="365760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35240" y="1645920"/>
            <a:ext cx="6273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80960" y="4251960"/>
            <a:ext cx="3566160" cy="960120"/>
          </a:xfrm>
          <a:prstGeom prst="roundRect">
            <a:avLst>
              <a:gd name="adj" fmla="val 13333"/>
            </a:avLst>
          </a:prstGeom>
          <a:solidFill>
            <a:srgbClr val="EDE7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5394960"/>
            <a:ext cx="3566160" cy="548640"/>
          </a:xfrm>
          <a:prstGeom prst="roundRect">
            <a:avLst>
              <a:gd name="adj" fmla="val 50000"/>
            </a:avLst>
          </a:prstGeom>
          <a:solidFill>
            <a:srgbClr val="F1EDF8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5394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6E6584"/>
                </a:solidFill>
                <a:latin typeface="Calibri" pitchFamily="34" charset="0"/>
                <a:cs typeface="Calibri" pitchFamily="34" charset="-120"/>
              </a:rPr>
              <a:t>Type….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248" y="2088045"/>
            <a:ext cx="2951584" cy="201168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534" y="2352603"/>
            <a:ext cx="1064826" cy="77402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534" y="4162415"/>
            <a:ext cx="1064826" cy="86027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2648" y="3207525"/>
            <a:ext cx="1064826" cy="80870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728" y="5212081"/>
            <a:ext cx="1053632" cy="859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notebook to a deployable 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846320" cy="4297680"/>
          </a:xfrm>
          <a:prstGeom prst="roundRect">
            <a:avLst>
              <a:gd name="adj" fmla="val 2128"/>
            </a:avLst>
          </a:prstGeom>
          <a:solidFill>
            <a:srgbClr val="2319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scraper.py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te.eg scraping + chunking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Document_loader.py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9900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upload handling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57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vector_store.py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5570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ChromaDB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239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rag.py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412394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Gemini answers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90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6908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/ periodic KB build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5257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Gradio interface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1783080"/>
            <a:ext cx="384048" cy="38404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notebook, no Colab lock-in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08483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runs anywhere — local machine, VM, or Docker container.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60720" y="2834640"/>
            <a:ext cx="384048" cy="38404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072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2816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knowledge base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1363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writes to disk under CHROMA_DB_DIR, so restarts don't lose the index.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3886200"/>
            <a:ext cx="384048" cy="38404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6072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867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via environment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1879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loads GOOGLE_API_KEY from .env — never hard-coded.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60720" y="4937760"/>
            <a:ext cx="384048" cy="38404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6072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4919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Network-ready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23951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launches on server_name 0.0.0.0, port 7860, for on-premises access.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questions, three grounded behaviors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EDE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468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i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naturally and briefly — no knowledge-base lookup needed.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2319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B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46888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3E1F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468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عايز اعرف سعر الكول تون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matching entertainment chunk and answers with a source citation.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EDE7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QUESTION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246888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2468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i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عايز اعرف سعر خط الإنترنت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relevant chunk clears the threshold — bot admits it doesn't know and points to 155.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5669280" cy="5669280"/>
          </a:xfrm>
          <a:prstGeom prst="ellipse">
            <a:avLst/>
          </a:prstGeom>
          <a:solidFill>
            <a:srgbClr val="3E1F6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2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B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entertainment to the full WE catalog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47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9514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mobile, internet, landline, roaming, and portability categories as teammates finish scraping.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9923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retrieval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4670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relevance threshold and chunk size against real customer queries.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E8B5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507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deployment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9826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app.py + ingest.py and schedule periodic re-ingestion as site content changes.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2743200" cy="0"/>
          </a:xfrm>
          <a:prstGeom prst="line">
            <a:avLst/>
          </a:prstGeom>
          <a:noFill/>
          <a:ln w="25400">
            <a:solidFill>
              <a:srgbClr val="E8B5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569671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3439486" y="5696712"/>
            <a:ext cx="84477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Video :</a:t>
            </a:r>
            <a:r>
              <a:rPr lang="ar-EG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  <a:hlinkClick r:id="rId3"/>
              </a:rPr>
              <a:t>https</a:t>
            </a:r>
            <a:r>
              <a:rPr lang="en-US" dirty="0">
                <a:solidFill>
                  <a:schemeClr val="accent5"/>
                </a:solidFill>
                <a:hlinkClick r:id="rId3"/>
              </a:rPr>
              <a:t>://drive.google.com/drive/folders/128hLJIfhzlxcnfTX3yadMtPyVID_cQNe?dmr=1&amp;ec=wgc-drive-%5Bmodule%5D-goto</a:t>
            </a:r>
            <a:endParaRPr lang="en-US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961</Words>
  <Application>Microsoft Office PowerPoint</Application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Maher</cp:lastModifiedBy>
  <cp:revision>4</cp:revision>
  <dcterms:created xsi:type="dcterms:W3CDTF">2026-08-29T12:46:36Z</dcterms:created>
  <dcterms:modified xsi:type="dcterms:W3CDTF">2026-08-29T13:54:56Z</dcterms:modified>
</cp:coreProperties>
</file>